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6" r:id="rId8"/>
    <p:sldId id="261" r:id="rId9"/>
    <p:sldId id="262" r:id="rId10"/>
    <p:sldId id="265" r:id="rId11"/>
    <p:sldId id="263" r:id="rId12"/>
    <p:sldId id="264" r:id="rId13"/>
    <p:sldId id="268" r:id="rId14"/>
    <p:sldId id="269" r:id="rId15"/>
    <p:sldId id="270" r:id="rId16"/>
    <p:sldId id="271" r:id="rId17"/>
    <p:sldId id="272" r:id="rId18"/>
    <p:sldId id="276" r:id="rId19"/>
    <p:sldId id="273" r:id="rId20"/>
    <p:sldId id="274" r:id="rId21"/>
    <p:sldId id="275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1" d="100"/>
          <a:sy n="91" d="100"/>
        </p:scale>
        <p:origin x="5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77463" y="-978629"/>
            <a:ext cx="9280634" cy="2421464"/>
          </a:xfrm>
        </p:spPr>
        <p:txBody>
          <a:bodyPr/>
          <a:lstStyle/>
          <a:p>
            <a:r>
              <a:rPr lang="ru-MD" b="1" dirty="0"/>
              <a:t>Онлайн библиотека — Проект</a:t>
            </a:r>
            <a:endParaRPr lang="en-US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83777" y="2094477"/>
            <a:ext cx="7840719" cy="1405467"/>
          </a:xfrm>
        </p:spPr>
        <p:txBody>
          <a:bodyPr/>
          <a:lstStyle/>
          <a:p>
            <a:r>
              <a:rPr lang="ru-RU" dirty="0"/>
              <a:t>Учебный проект: веб‑приложение для работы с онлайн библиотекой.</a:t>
            </a:r>
          </a:p>
          <a:p>
            <a:endParaRPr lang="en-US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7957815" y="4867245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solidFill>
                  <a:srgbClr val="FFFFFF"/>
                </a:solidFill>
                <a:latin typeface="Roboto"/>
              </a:rPr>
              <a:t>Разрабатывает</a:t>
            </a:r>
            <a:r>
              <a:rPr lang="ru-RU" dirty="0" smtClean="0">
                <a:solidFill>
                  <a:srgbClr val="FFFFFF"/>
                </a:solidFill>
                <a:latin typeface="Roboto"/>
              </a:rPr>
              <a:t>:</a:t>
            </a:r>
            <a:endParaRPr lang="en-US" dirty="0" smtClean="0">
              <a:solidFill>
                <a:srgbClr val="FFFFFF"/>
              </a:solidFill>
              <a:latin typeface="Roboto"/>
            </a:endParaRPr>
          </a:p>
          <a:p>
            <a:endParaRPr lang="en-US" dirty="0" smtClean="0">
              <a:solidFill>
                <a:srgbClr val="FFFFFF"/>
              </a:solidFill>
              <a:latin typeface="Roboto"/>
            </a:endParaRPr>
          </a:p>
          <a:p>
            <a:r>
              <a:rPr lang="ru-RU" dirty="0" smtClean="0">
                <a:solidFill>
                  <a:srgbClr val="FFFFFF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Roboto"/>
              </a:rPr>
              <a:t>Григоровский</a:t>
            </a:r>
            <a:r>
              <a:rPr lang="ru-RU" dirty="0">
                <a:solidFill>
                  <a:srgbClr val="FFFFFF"/>
                </a:solidFill>
                <a:latin typeface="Roboto"/>
              </a:rPr>
              <a:t> </a:t>
            </a:r>
            <a:r>
              <a:rPr lang="ru-RU" dirty="0" smtClean="0">
                <a:solidFill>
                  <a:srgbClr val="FFFFFF"/>
                </a:solidFill>
                <a:latin typeface="Roboto"/>
              </a:rPr>
              <a:t>Денис</a:t>
            </a:r>
            <a:endParaRPr lang="en-US" dirty="0" smtClean="0">
              <a:solidFill>
                <a:srgbClr val="FFFFFF"/>
              </a:solidFill>
              <a:latin typeface="Roboto"/>
            </a:endParaRPr>
          </a:p>
          <a:p>
            <a:r>
              <a:rPr lang="en-US" dirty="0">
                <a:solidFill>
                  <a:srgbClr val="FFFFFF"/>
                </a:solidFill>
                <a:latin typeface="Roboto"/>
              </a:rPr>
              <a:t> </a:t>
            </a:r>
            <a:r>
              <a:rPr lang="ru-RU" dirty="0" smtClean="0">
                <a:solidFill>
                  <a:srgbClr val="FFFFFF"/>
                </a:solidFill>
                <a:latin typeface="Roboto"/>
              </a:rPr>
              <a:t>Влад </a:t>
            </a:r>
            <a:r>
              <a:rPr lang="ru-RU" dirty="0" err="1" smtClean="0">
                <a:solidFill>
                  <a:srgbClr val="FFFFFF"/>
                </a:solidFill>
                <a:latin typeface="Roboto"/>
              </a:rPr>
              <a:t>Гецина</a:t>
            </a:r>
            <a:r>
              <a:rPr lang="ru-RU" dirty="0"/>
              <a:t/>
            </a:r>
            <a:br>
              <a:rPr lang="ru-RU" dirty="0"/>
            </a:br>
            <a:r>
              <a:rPr lang="en-US" dirty="0" smtClean="0"/>
              <a:t> </a:t>
            </a:r>
            <a:r>
              <a:rPr lang="ru-RU" dirty="0" err="1" smtClean="0">
                <a:solidFill>
                  <a:srgbClr val="FFFFFF"/>
                </a:solidFill>
                <a:latin typeface="Roboto"/>
              </a:rPr>
              <a:t>Sulta</a:t>
            </a:r>
            <a:r>
              <a:rPr lang="ru-RU" dirty="0" smtClean="0">
                <a:solidFill>
                  <a:srgbClr val="FFFFFF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Roboto"/>
              </a:rPr>
              <a:t>Radic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948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60575" y="523539"/>
            <a:ext cx="10131425" cy="1456267"/>
          </a:xfrm>
        </p:spPr>
        <p:txBody>
          <a:bodyPr>
            <a:normAutofit/>
          </a:bodyPr>
          <a:lstStyle/>
          <a:p>
            <a:r>
              <a:rPr lang="ru-MD" sz="4800" b="1" dirty="0"/>
              <a:t>Функциональность</a:t>
            </a:r>
            <a:endParaRPr lang="en-US" sz="48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3600" dirty="0"/>
              <a:t>• </a:t>
            </a:r>
            <a:r>
              <a:rPr lang="en-US" sz="3600" b="1" dirty="0"/>
              <a:t>CRUD </a:t>
            </a:r>
            <a:r>
              <a:rPr lang="ru-MD" sz="3600" b="1" dirty="0" smtClean="0"/>
              <a:t>операции</a:t>
            </a:r>
          </a:p>
          <a:p>
            <a:pPr marL="0" indent="0">
              <a:buNone/>
            </a:pPr>
            <a:r>
              <a:rPr lang="ru-RU" sz="3600" dirty="0" smtClean="0"/>
              <a:t>• </a:t>
            </a:r>
            <a:r>
              <a:rPr lang="ru-RU" sz="3600" dirty="0"/>
              <a:t>Категории и авторы</a:t>
            </a:r>
          </a:p>
          <a:p>
            <a:pPr marL="0" indent="0">
              <a:buNone/>
            </a:pPr>
            <a:r>
              <a:rPr lang="ru-RU" sz="3600" dirty="0"/>
              <a:t>• Пользовательские роли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995550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CRUD </a:t>
            </a:r>
            <a:r>
              <a:rPr lang="ru-MD" sz="4400" b="1" dirty="0"/>
              <a:t>операции</a:t>
            </a:r>
            <a:endParaRPr lang="en-US" sz="44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2400" dirty="0"/>
              <a:t>• Создание книг</a:t>
            </a:r>
          </a:p>
          <a:p>
            <a:pPr marL="0" indent="0">
              <a:buNone/>
            </a:pPr>
            <a:r>
              <a:rPr lang="ru-RU" sz="2400" dirty="0"/>
              <a:t>• Просмотр списка</a:t>
            </a:r>
          </a:p>
          <a:p>
            <a:pPr marL="0" indent="0">
              <a:buNone/>
            </a:pPr>
            <a:r>
              <a:rPr lang="ru-RU" sz="2400" dirty="0"/>
              <a:t>• Редактирование</a:t>
            </a:r>
          </a:p>
          <a:p>
            <a:pPr marL="0" indent="0">
              <a:buNone/>
            </a:pPr>
            <a:r>
              <a:rPr lang="ru-RU" sz="2400" dirty="0"/>
              <a:t>• Удаление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056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Создание книг</a:t>
            </a:r>
            <a:endParaRPr lang="en-US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87377" y="4001787"/>
            <a:ext cx="5896798" cy="229584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6880482" y="3373426"/>
            <a:ext cx="44983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MD" dirty="0">
                <a:latin typeface="Segoe WPC"/>
              </a:rPr>
              <a:t>Файл: </a:t>
            </a:r>
            <a:r>
              <a:rPr lang="en-US" dirty="0">
                <a:solidFill>
                  <a:srgbClr val="81A1C1"/>
                </a:solidFill>
                <a:latin typeface="Consolas" panose="020B0609020204030204" pitchFamily="49" charset="0"/>
              </a:rPr>
              <a:t>books/form.html</a:t>
            </a:r>
            <a:r>
              <a:rPr lang="en-US" dirty="0">
                <a:latin typeface="Segoe WPC"/>
              </a:rPr>
              <a:t> — </a:t>
            </a:r>
            <a:r>
              <a:rPr lang="ru-MD" dirty="0">
                <a:latin typeface="Segoe WPC"/>
              </a:rPr>
              <a:t>строки 13-40</a:t>
            </a:r>
            <a:endParaRPr lang="en-US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44650" y="3124624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Segoe WPC"/>
              </a:rPr>
              <a:t>Как работает </a:t>
            </a:r>
            <a:r>
              <a:rPr lang="ru-RU" dirty="0" err="1">
                <a:latin typeface="Segoe WPC"/>
              </a:rPr>
              <a:t>форма:</a:t>
            </a:r>
            <a:r>
              <a:rPr lang="ru-RU" dirty="0" err="1">
                <a:latin typeface="Consolas" panose="020B0609020204030204" pitchFamily="49" charset="0"/>
              </a:rPr>
              <a:t>th:field</a:t>
            </a:r>
            <a:r>
              <a:rPr lang="ru-RU" dirty="0">
                <a:latin typeface="Consolas" panose="020B0609020204030204" pitchFamily="49" charset="0"/>
              </a:rPr>
              <a:t>="*{</a:t>
            </a:r>
            <a:r>
              <a:rPr lang="ru-RU" dirty="0" err="1">
                <a:latin typeface="Consolas" panose="020B0609020204030204" pitchFamily="49" charset="0"/>
              </a:rPr>
              <a:t>title</a:t>
            </a:r>
            <a:r>
              <a:rPr lang="ru-RU" dirty="0">
                <a:latin typeface="Consolas" panose="020B0609020204030204" pitchFamily="49" charset="0"/>
              </a:rPr>
              <a:t>}"</a:t>
            </a:r>
            <a:r>
              <a:rPr lang="ru-RU" dirty="0">
                <a:latin typeface="Segoe WPC"/>
              </a:rPr>
              <a:t> связывает поле с </a:t>
            </a:r>
            <a:r>
              <a:rPr lang="ru-RU" dirty="0" err="1">
                <a:latin typeface="Consolas" panose="020B0609020204030204" pitchFamily="49" charset="0"/>
              </a:rPr>
              <a:t>book.title</a:t>
            </a:r>
            <a:r>
              <a:rPr lang="ru-RU" dirty="0">
                <a:latin typeface="Segoe WPC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Segoe WPC"/>
              </a:rPr>
              <a:t>При отправке все поля автоматически заполняют объект </a:t>
            </a:r>
            <a:r>
              <a:rPr lang="ru-RU" dirty="0" err="1">
                <a:solidFill>
                  <a:srgbClr val="81A1C1"/>
                </a:solidFill>
                <a:latin typeface="Consolas" panose="020B0609020204030204" pitchFamily="49" charset="0"/>
              </a:rPr>
              <a:t>Book</a:t>
            </a:r>
            <a:r>
              <a:rPr lang="ru-RU" dirty="0">
                <a:latin typeface="Segoe WPC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>
                <a:latin typeface="Consolas" panose="020B0609020204030204" pitchFamily="49" charset="0"/>
              </a:rPr>
              <a:t>required</a:t>
            </a:r>
            <a:r>
              <a:rPr lang="ru-RU" dirty="0">
                <a:latin typeface="Segoe WPC"/>
              </a:rPr>
              <a:t> делает поле обязательным на стороне браузера.</a:t>
            </a:r>
            <a:endParaRPr lang="ru-RU" b="0" i="0" dirty="0">
              <a:effectLst/>
              <a:latin typeface="Segoe WPC"/>
            </a:endParaRPr>
          </a:p>
        </p:txBody>
      </p:sp>
    </p:spTree>
    <p:extLst>
      <p:ext uri="{BB962C8B-B14F-4D97-AF65-F5344CB8AC3E}">
        <p14:creationId xmlns:p14="http://schemas.microsoft.com/office/powerpoint/2010/main" val="1375807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076" y="970086"/>
            <a:ext cx="7786008" cy="5813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980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72323" y="319144"/>
            <a:ext cx="10131425" cy="1456267"/>
          </a:xfrm>
        </p:spPr>
        <p:txBody>
          <a:bodyPr>
            <a:noAutofit/>
          </a:bodyPr>
          <a:lstStyle/>
          <a:p>
            <a:r>
              <a:rPr lang="ru-RU" sz="4400" b="1" dirty="0" smtClean="0"/>
              <a:t>Просмотр списка книг</a:t>
            </a:r>
            <a:endParaRPr lang="en-US" sz="44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04623" y="4128247"/>
            <a:ext cx="6287377" cy="2333951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326315" y="3476994"/>
            <a:ext cx="525690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ru-RU" dirty="0">
                <a:latin typeface="Segoe WPC"/>
              </a:rPr>
              <a:t>Что делает этот </a:t>
            </a:r>
            <a:r>
              <a:rPr lang="ru-RU" dirty="0" err="1">
                <a:latin typeface="Segoe WPC"/>
              </a:rPr>
              <a:t>код:Извлекает</a:t>
            </a:r>
            <a:r>
              <a:rPr lang="ru-RU" dirty="0">
                <a:latin typeface="Segoe WPC"/>
              </a:rPr>
              <a:t> ID из URL (</a:t>
            </a:r>
            <a:r>
              <a:rPr lang="ru-RU" dirty="0">
                <a:latin typeface="Consolas" panose="020B0609020204030204" pitchFamily="49" charset="0"/>
              </a:rPr>
              <a:t>/</a:t>
            </a:r>
            <a:r>
              <a:rPr lang="ru-RU" dirty="0" err="1">
                <a:latin typeface="Consolas" panose="020B0609020204030204" pitchFamily="49" charset="0"/>
              </a:rPr>
              <a:t>books</a:t>
            </a:r>
            <a:r>
              <a:rPr lang="ru-RU" dirty="0">
                <a:latin typeface="Consolas" panose="020B0609020204030204" pitchFamily="49" charset="0"/>
              </a:rPr>
              <a:t>/{</a:t>
            </a:r>
            <a:r>
              <a:rPr lang="ru-RU" dirty="0" err="1">
                <a:latin typeface="Consolas" panose="020B0609020204030204" pitchFamily="49" charset="0"/>
              </a:rPr>
              <a:t>id</a:t>
            </a:r>
            <a:r>
              <a:rPr lang="ru-RU" dirty="0">
                <a:latin typeface="Consolas" panose="020B0609020204030204" pitchFamily="49" charset="0"/>
              </a:rPr>
              <a:t>}</a:t>
            </a:r>
            <a:r>
              <a:rPr lang="ru-RU" dirty="0">
                <a:latin typeface="Segoe WPC"/>
              </a:rPr>
              <a:t>).</a:t>
            </a:r>
          </a:p>
          <a:p>
            <a:pPr>
              <a:buFont typeface="+mj-lt"/>
              <a:buAutoNum type="arabicPeriod" startAt="2"/>
            </a:pPr>
            <a:r>
              <a:rPr lang="ru-RU" dirty="0">
                <a:latin typeface="Segoe WPC"/>
              </a:rPr>
              <a:t>Ищет книгу в БД по ID.</a:t>
            </a:r>
          </a:p>
          <a:p>
            <a:pPr>
              <a:buFont typeface="+mj-lt"/>
              <a:buAutoNum type="arabicPeriod" startAt="3"/>
            </a:pPr>
            <a:r>
              <a:rPr lang="ru-RU" dirty="0">
                <a:latin typeface="Segoe WPC"/>
              </a:rPr>
              <a:t>Если найдена — добавляет в модель и возвращает шаблон.</a:t>
            </a:r>
          </a:p>
          <a:p>
            <a:pPr>
              <a:buFont typeface="+mj-lt"/>
              <a:buAutoNum type="arabicPeriod" startAt="4"/>
            </a:pPr>
            <a:r>
              <a:rPr lang="ru-RU" dirty="0">
                <a:latin typeface="Segoe WPC"/>
              </a:rPr>
              <a:t>Если не найдена — перенаправляет на список.</a:t>
            </a:r>
            <a:endParaRPr lang="ru-RU" b="0" i="0" dirty="0">
              <a:effectLst/>
              <a:latin typeface="Segoe WPC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545863" y="3559645"/>
            <a:ext cx="50048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MD" dirty="0">
                <a:latin typeface="Segoe WPC"/>
              </a:rPr>
              <a:t>Файл: </a:t>
            </a:r>
            <a:r>
              <a:rPr lang="en-US" dirty="0">
                <a:latin typeface="Consolas" panose="020B0609020204030204" pitchFamily="49" charset="0"/>
              </a:rPr>
              <a:t>BookController.java</a:t>
            </a:r>
            <a:r>
              <a:rPr lang="en-US" dirty="0">
                <a:latin typeface="Segoe WPC"/>
              </a:rPr>
              <a:t> — </a:t>
            </a:r>
            <a:r>
              <a:rPr lang="ru-MD" dirty="0">
                <a:latin typeface="Segoe WPC"/>
              </a:rPr>
              <a:t>строки 91-99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764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552" y="1454682"/>
            <a:ext cx="9469171" cy="491558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795" y="320642"/>
            <a:ext cx="1335140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969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 smtClean="0"/>
              <a:t>Редактировние</a:t>
            </a:r>
            <a:r>
              <a:rPr lang="ru-RU" b="1" dirty="0" smtClean="0"/>
              <a:t> книг</a:t>
            </a:r>
            <a:endParaRPr lang="en-US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5802" y="2142067"/>
            <a:ext cx="3602420" cy="3649133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Что делает этот код</a:t>
            </a:r>
            <a:r>
              <a:rPr lang="ru-RU" dirty="0" smtClean="0"/>
              <a:t>:</a:t>
            </a:r>
          </a:p>
          <a:p>
            <a:r>
              <a:rPr lang="ru-RU" dirty="0" smtClean="0"/>
              <a:t>Извлекает </a:t>
            </a:r>
            <a:r>
              <a:rPr lang="ru-RU" dirty="0"/>
              <a:t>ID из URL (/</a:t>
            </a:r>
            <a:r>
              <a:rPr lang="ru-RU" dirty="0" err="1"/>
              <a:t>books</a:t>
            </a:r>
            <a:r>
              <a:rPr lang="ru-RU" dirty="0"/>
              <a:t>/{</a:t>
            </a:r>
            <a:r>
              <a:rPr lang="ru-RU" dirty="0" err="1"/>
              <a:t>id</a:t>
            </a:r>
            <a:r>
              <a:rPr lang="ru-RU" dirty="0"/>
              <a:t>}/</a:t>
            </a:r>
            <a:r>
              <a:rPr lang="ru-RU" dirty="0" err="1"/>
              <a:t>edit</a:t>
            </a:r>
            <a:r>
              <a:rPr lang="ru-RU" dirty="0"/>
              <a:t>).</a:t>
            </a:r>
          </a:p>
          <a:p>
            <a:r>
              <a:rPr lang="ru-RU" dirty="0"/>
              <a:t>Ищет книгу в БД по ID.</a:t>
            </a:r>
          </a:p>
          <a:p>
            <a:r>
              <a:rPr lang="ru-RU" dirty="0"/>
              <a:t>Если найдена — передаёт её в форму (поля будут заполнены).</a:t>
            </a:r>
          </a:p>
          <a:p>
            <a:r>
              <a:rPr lang="ru-RU" dirty="0"/>
              <a:t>Если не найдена — перенаправляет на список.</a:t>
            </a:r>
          </a:p>
          <a:p>
            <a:endParaRPr lang="en-US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1721" y="3002841"/>
            <a:ext cx="7247081" cy="2683255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5905828" y="2142067"/>
            <a:ext cx="50048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MD" dirty="0">
                <a:latin typeface="Segoe WPC"/>
              </a:rPr>
              <a:t>Файл: </a:t>
            </a:r>
            <a:r>
              <a:rPr lang="en-US" dirty="0">
                <a:latin typeface="Consolas" panose="020B0609020204030204" pitchFamily="49" charset="0"/>
              </a:rPr>
              <a:t>BookController.java</a:t>
            </a:r>
            <a:r>
              <a:rPr lang="en-US" dirty="0">
                <a:latin typeface="Segoe WPC"/>
              </a:rPr>
              <a:t> — </a:t>
            </a:r>
            <a:r>
              <a:rPr lang="ru-MD" dirty="0">
                <a:latin typeface="Segoe WPC"/>
              </a:rPr>
              <a:t>строки 74-82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252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341" y="741148"/>
            <a:ext cx="4358666" cy="274909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342" y="3604974"/>
            <a:ext cx="4358666" cy="2732548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294687" y="1673884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+mj-lt"/>
              <a:buAutoNum type="arabicPeriod"/>
            </a:pPr>
            <a:r>
              <a:rPr lang="ru-RU" dirty="0">
                <a:latin typeface="Segoe WPC"/>
              </a:rPr>
              <a:t>Как работает </a:t>
            </a:r>
            <a:r>
              <a:rPr lang="ru-RU" dirty="0" err="1">
                <a:latin typeface="Segoe WPC"/>
              </a:rPr>
              <a:t>сохранение:Получает</a:t>
            </a:r>
            <a:r>
              <a:rPr lang="ru-RU" dirty="0">
                <a:latin typeface="Segoe WPC"/>
              </a:rPr>
              <a:t> объект </a:t>
            </a:r>
            <a:r>
              <a:rPr lang="ru-RU" dirty="0" err="1">
                <a:latin typeface="Consolas" panose="020B0609020204030204" pitchFamily="49" charset="0"/>
              </a:rPr>
              <a:t>Book</a:t>
            </a:r>
            <a:r>
              <a:rPr lang="ru-RU" dirty="0">
                <a:latin typeface="Segoe WPC"/>
              </a:rPr>
              <a:t> из формы (с заполненным </a:t>
            </a:r>
            <a:r>
              <a:rPr lang="ru-RU" dirty="0" err="1">
                <a:latin typeface="Consolas" panose="020B0609020204030204" pitchFamily="49" charset="0"/>
              </a:rPr>
              <a:t>id</a:t>
            </a:r>
            <a:r>
              <a:rPr lang="ru-RU" dirty="0">
                <a:latin typeface="Segoe WPC"/>
              </a:rPr>
              <a:t> при редактировании).</a:t>
            </a:r>
          </a:p>
          <a:p>
            <a:pPr>
              <a:buFont typeface="+mj-lt"/>
              <a:buAutoNum type="arabicPeriod" startAt="2"/>
            </a:pPr>
            <a:r>
              <a:rPr lang="ru-RU" dirty="0">
                <a:latin typeface="Segoe WPC"/>
              </a:rPr>
              <a:t>Проверяет наличие названия и автора.</a:t>
            </a:r>
          </a:p>
          <a:p>
            <a:pPr>
              <a:buFont typeface="+mj-lt"/>
              <a:buAutoNum type="arabicPeriod" startAt="3"/>
            </a:pPr>
            <a:r>
              <a:rPr lang="ru-RU" dirty="0">
                <a:latin typeface="Segoe WPC"/>
              </a:rPr>
              <a:t>Вызывает </a:t>
            </a:r>
            <a:r>
              <a:rPr lang="ru-RU" dirty="0" err="1">
                <a:latin typeface="Consolas" panose="020B0609020204030204" pitchFamily="49" charset="0"/>
              </a:rPr>
              <a:t>repository.save</a:t>
            </a:r>
            <a:r>
              <a:rPr lang="ru-RU" dirty="0">
                <a:latin typeface="Consolas" panose="020B0609020204030204" pitchFamily="49" charset="0"/>
              </a:rPr>
              <a:t>(</a:t>
            </a:r>
            <a:r>
              <a:rPr lang="ru-RU" dirty="0" err="1">
                <a:latin typeface="Consolas" panose="020B0609020204030204" pitchFamily="49" charset="0"/>
              </a:rPr>
              <a:t>book</a:t>
            </a:r>
            <a:r>
              <a:rPr lang="ru-RU" dirty="0">
                <a:latin typeface="Consolas" panose="020B0609020204030204" pitchFamily="49" charset="0"/>
              </a:rPr>
              <a:t>)</a:t>
            </a:r>
            <a:r>
              <a:rPr lang="ru-RU" dirty="0">
                <a:latin typeface="Segoe WPC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Segoe WPC"/>
              </a:rPr>
              <a:t>Если </a:t>
            </a:r>
            <a:r>
              <a:rPr lang="ru-RU" dirty="0">
                <a:latin typeface="Consolas" panose="020B0609020204030204" pitchFamily="49" charset="0"/>
              </a:rPr>
              <a:t>book.id != </a:t>
            </a:r>
            <a:r>
              <a:rPr lang="ru-RU" dirty="0" err="1">
                <a:latin typeface="Consolas" panose="020B0609020204030204" pitchFamily="49" charset="0"/>
              </a:rPr>
              <a:t>null</a:t>
            </a:r>
            <a:r>
              <a:rPr lang="ru-RU" dirty="0">
                <a:latin typeface="Segoe WPC"/>
              </a:rPr>
              <a:t> → UPDATE (обновление существующей записи).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Segoe WPC"/>
              </a:rPr>
              <a:t>Если </a:t>
            </a:r>
            <a:r>
              <a:rPr lang="ru-RU" dirty="0">
                <a:latin typeface="Consolas" panose="020B0609020204030204" pitchFamily="49" charset="0"/>
              </a:rPr>
              <a:t>book.id == </a:t>
            </a:r>
            <a:r>
              <a:rPr lang="ru-RU" dirty="0" err="1">
                <a:latin typeface="Consolas" panose="020B0609020204030204" pitchFamily="49" charset="0"/>
              </a:rPr>
              <a:t>null</a:t>
            </a:r>
            <a:r>
              <a:rPr lang="ru-RU" dirty="0">
                <a:latin typeface="Segoe WPC"/>
              </a:rPr>
              <a:t> → INSERT (создание новой записи).</a:t>
            </a:r>
          </a:p>
          <a:p>
            <a:pPr>
              <a:buFont typeface="+mj-lt"/>
              <a:buAutoNum type="arabicPeriod" startAt="4"/>
            </a:pPr>
            <a:r>
              <a:rPr lang="ru-RU" dirty="0">
                <a:latin typeface="Segoe WPC"/>
              </a:rPr>
              <a:t>Перенаправляет на список с сообщением.</a:t>
            </a:r>
            <a:endParaRPr lang="ru-RU" b="0" i="0" dirty="0">
              <a:effectLst/>
              <a:latin typeface="Segoe WPC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6245440" y="257083"/>
            <a:ext cx="50193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MD" dirty="0" smtClean="0">
                <a:latin typeface="Segoe WPC"/>
              </a:rPr>
              <a:t>файл</a:t>
            </a:r>
            <a:r>
              <a:rPr lang="ru-MD" dirty="0">
                <a:latin typeface="Segoe WPC"/>
              </a:rPr>
              <a:t>: </a:t>
            </a:r>
            <a:r>
              <a:rPr lang="en-US" dirty="0">
                <a:solidFill>
                  <a:srgbClr val="81A1C1"/>
                </a:solidFill>
                <a:latin typeface="Consolas" panose="020B0609020204030204" pitchFamily="49" charset="0"/>
              </a:rPr>
              <a:t>BookController.java</a:t>
            </a:r>
            <a:r>
              <a:rPr lang="en-US" dirty="0">
                <a:latin typeface="Segoe WPC"/>
              </a:rPr>
              <a:t> — </a:t>
            </a:r>
            <a:r>
              <a:rPr lang="ru-MD" dirty="0">
                <a:latin typeface="Segoe WPC"/>
              </a:rPr>
              <a:t>строки 53-72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843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890" y="907460"/>
            <a:ext cx="8384470" cy="595054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489033" y="290927"/>
            <a:ext cx="11515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 smtClean="0"/>
              <a:t>Вывод: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64005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Удаление книг</a:t>
            </a:r>
            <a:endParaRPr lang="en-US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99415" y="2625542"/>
            <a:ext cx="4955758" cy="3649133"/>
          </a:xfrm>
        </p:spPr>
        <p:txBody>
          <a:bodyPr/>
          <a:lstStyle/>
          <a:p>
            <a:r>
              <a:rPr lang="ru-RU" dirty="0"/>
              <a:t>Извлекает ID книги из URL (/</a:t>
            </a:r>
            <a:r>
              <a:rPr lang="ru-RU" dirty="0" err="1"/>
              <a:t>books</a:t>
            </a:r>
            <a:r>
              <a:rPr lang="ru-RU" dirty="0"/>
              <a:t>/{</a:t>
            </a:r>
            <a:r>
              <a:rPr lang="ru-RU" dirty="0" err="1"/>
              <a:t>id</a:t>
            </a:r>
            <a:r>
              <a:rPr lang="ru-RU" dirty="0"/>
              <a:t>}/</a:t>
            </a:r>
            <a:r>
              <a:rPr lang="ru-RU" dirty="0" err="1"/>
              <a:t>delete</a:t>
            </a:r>
            <a:r>
              <a:rPr lang="ru-RU" dirty="0"/>
              <a:t>).</a:t>
            </a:r>
          </a:p>
          <a:p>
            <a:r>
              <a:rPr lang="ru-RU" dirty="0"/>
              <a:t>Вызывает </a:t>
            </a:r>
            <a:r>
              <a:rPr lang="ru-RU" dirty="0" err="1"/>
              <a:t>repository.deleteById</a:t>
            </a:r>
            <a:r>
              <a:rPr lang="ru-RU" dirty="0"/>
              <a:t>(</a:t>
            </a:r>
            <a:r>
              <a:rPr lang="ru-RU" dirty="0" err="1"/>
              <a:t>id</a:t>
            </a:r>
            <a:r>
              <a:rPr lang="ru-RU" dirty="0"/>
              <a:t>) — удаляет книгу из БД.</a:t>
            </a:r>
          </a:p>
          <a:p>
            <a:r>
              <a:rPr lang="ru-RU" dirty="0"/>
              <a:t>Добавляет сообщение об успехе.</a:t>
            </a:r>
          </a:p>
          <a:p>
            <a:r>
              <a:rPr lang="ru-RU" dirty="0"/>
              <a:t>Перенаправляет на список книг.</a:t>
            </a:r>
          </a:p>
          <a:p>
            <a:endParaRPr lang="en-US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5127" y="3413598"/>
            <a:ext cx="5792008" cy="1838582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99415" y="2555066"/>
            <a:ext cx="2376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MD" dirty="0">
                <a:latin typeface="Segoe WPC"/>
              </a:rPr>
              <a:t>Что делает этот код: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531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070" y="1408386"/>
            <a:ext cx="7798676" cy="5062721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494708" y="427562"/>
            <a:ext cx="192267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/>
              <a:t>вывод: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647219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96311" y="399393"/>
            <a:ext cx="10131425" cy="1456267"/>
          </a:xfrm>
        </p:spPr>
        <p:txBody>
          <a:bodyPr/>
          <a:lstStyle/>
          <a:p>
            <a:r>
              <a:rPr lang="ru-MD" sz="4800" b="1" dirty="0"/>
              <a:t>АВТОРИЗАЦИЯ (ВХОД)</a:t>
            </a:r>
            <a:r>
              <a:rPr lang="ru-MD" b="1" dirty="0"/>
              <a:t/>
            </a:r>
            <a:br>
              <a:rPr lang="ru-MD" b="1" dirty="0"/>
            </a:br>
            <a:endParaRPr lang="en-US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45486" y="3502060"/>
            <a:ext cx="5982535" cy="67636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549167" y="3662274"/>
            <a:ext cx="333966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Что делает</a:t>
            </a:r>
            <a:r>
              <a:rPr lang="ru-RU" dirty="0" smtClean="0"/>
              <a:t>:</a:t>
            </a:r>
          </a:p>
          <a:p>
            <a:r>
              <a:rPr lang="ru-RU" dirty="0" smtClean="0"/>
              <a:t>Отображает </a:t>
            </a:r>
            <a:r>
              <a:rPr lang="ru-RU" dirty="0"/>
              <a:t>форму входа. Обработка входа выполняется </a:t>
            </a:r>
            <a:r>
              <a:rPr lang="ru-RU" dirty="0" err="1"/>
              <a:t>Spring</a:t>
            </a:r>
            <a:r>
              <a:rPr lang="ru-RU" dirty="0"/>
              <a:t> </a:t>
            </a:r>
            <a:r>
              <a:rPr lang="ru-RU" dirty="0" err="1"/>
              <a:t>Security</a:t>
            </a:r>
            <a:r>
              <a:rPr lang="ru-RU" dirty="0"/>
              <a:t> автоматически.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252896" y="2204969"/>
            <a:ext cx="36359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MD" b="1" dirty="0">
                <a:latin typeface="Segoe WPC"/>
              </a:rPr>
              <a:t>1. Отображение формы входа</a:t>
            </a:r>
            <a:endParaRPr lang="ru-MD" b="1" i="0" dirty="0">
              <a:effectLst/>
              <a:latin typeface="Segoe WPC"/>
            </a:endParaRPr>
          </a:p>
        </p:txBody>
      </p:sp>
    </p:spTree>
    <p:extLst>
      <p:ext uri="{BB962C8B-B14F-4D97-AF65-F5344CB8AC3E}">
        <p14:creationId xmlns:p14="http://schemas.microsoft.com/office/powerpoint/2010/main" val="25205900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4746" y="1921273"/>
            <a:ext cx="6096851" cy="4486901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326176" y="658789"/>
            <a:ext cx="38261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MD" b="1" dirty="0" smtClean="0">
                <a:latin typeface="Segoe WPC"/>
              </a:rPr>
              <a:t> 2. Конфигурация </a:t>
            </a:r>
            <a:r>
              <a:rPr lang="ru-MD" b="1" dirty="0">
                <a:latin typeface="Segoe WPC"/>
              </a:rPr>
              <a:t>безопасности</a:t>
            </a:r>
            <a:endParaRPr lang="ru-MD" b="1" i="0" dirty="0">
              <a:effectLst/>
              <a:latin typeface="Segoe WPC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493986" y="2853587"/>
            <a:ext cx="355249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Segoe WPC"/>
              </a:rPr>
              <a:t>Что делает</a:t>
            </a:r>
            <a:r>
              <a:rPr lang="ru-RU" dirty="0" smtClean="0">
                <a:latin typeface="Segoe WPC"/>
              </a:rPr>
              <a:t>:</a:t>
            </a:r>
          </a:p>
          <a:p>
            <a:endParaRPr lang="ru-RU" dirty="0" smtClean="0">
              <a:latin typeface="Segoe WPC"/>
            </a:endParaRPr>
          </a:p>
          <a:p>
            <a:r>
              <a:rPr lang="ru-RU" dirty="0" smtClean="0">
                <a:latin typeface="Segoe WPC"/>
              </a:rPr>
              <a:t>Настраивает</a:t>
            </a:r>
            <a:r>
              <a:rPr lang="ru-RU" dirty="0">
                <a:latin typeface="Segoe WPC"/>
              </a:rPr>
              <a:t> правила доступа, форму входа и выход.</a:t>
            </a:r>
            <a:endParaRPr lang="ru-RU" b="0" i="0" dirty="0">
              <a:effectLst/>
              <a:latin typeface="Segoe WPC"/>
            </a:endParaRPr>
          </a:p>
        </p:txBody>
      </p:sp>
    </p:spTree>
    <p:extLst>
      <p:ext uri="{BB962C8B-B14F-4D97-AF65-F5344CB8AC3E}">
        <p14:creationId xmlns:p14="http://schemas.microsoft.com/office/powerpoint/2010/main" val="3221523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07897" y="1436555"/>
            <a:ext cx="36934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MD" b="1" dirty="0" smtClean="0">
                <a:latin typeface="Segoe WPC"/>
              </a:rPr>
              <a:t>3. Провайдер аутентификации</a:t>
            </a:r>
            <a:endParaRPr lang="ru-MD" b="1" i="0" dirty="0">
              <a:effectLst/>
              <a:latin typeface="Segoe WPC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653580" y="2182789"/>
            <a:ext cx="50048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MD" dirty="0">
                <a:latin typeface="Segoe WPC"/>
              </a:rPr>
              <a:t>Файл: </a:t>
            </a:r>
            <a:r>
              <a:rPr lang="en-US" dirty="0">
                <a:latin typeface="Consolas" panose="020B0609020204030204" pitchFamily="49" charset="0"/>
              </a:rPr>
              <a:t>SecurityConfig.java</a:t>
            </a:r>
            <a:r>
              <a:rPr lang="en-US" dirty="0">
                <a:latin typeface="Segoe WPC"/>
              </a:rPr>
              <a:t> — </a:t>
            </a:r>
            <a:r>
              <a:rPr lang="ru-MD" dirty="0">
                <a:latin typeface="Segoe WPC"/>
              </a:rPr>
              <a:t>строки 28-34</a:t>
            </a:r>
            <a:endParaRPr lang="en-US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3580" y="2942487"/>
            <a:ext cx="6049219" cy="1162212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388883" y="2877262"/>
            <a:ext cx="439332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Segoe WPC"/>
              </a:rPr>
              <a:t>Что делает</a:t>
            </a:r>
            <a:r>
              <a:rPr lang="ru-RU" dirty="0" smtClean="0">
                <a:latin typeface="Segoe WPC"/>
              </a:rPr>
              <a:t>:</a:t>
            </a:r>
          </a:p>
          <a:p>
            <a:endParaRPr lang="ru-RU" dirty="0" smtClean="0">
              <a:latin typeface="Segoe WPC"/>
            </a:endParaRPr>
          </a:p>
          <a:p>
            <a:r>
              <a:rPr lang="ru-RU" dirty="0" smtClean="0">
                <a:latin typeface="Segoe WPC"/>
              </a:rPr>
              <a:t>Связывает </a:t>
            </a:r>
            <a:r>
              <a:rPr lang="ru-RU" dirty="0">
                <a:latin typeface="Segoe WPC"/>
              </a:rPr>
              <a:t>сервис загрузки пользователей и шифровальщик паролей для проверки входа.</a:t>
            </a:r>
            <a:endParaRPr lang="ru-RU" b="0" i="0" dirty="0">
              <a:effectLst/>
              <a:latin typeface="Segoe WPC"/>
            </a:endParaRPr>
          </a:p>
        </p:txBody>
      </p:sp>
    </p:spTree>
    <p:extLst>
      <p:ext uri="{BB962C8B-B14F-4D97-AF65-F5344CB8AC3E}">
        <p14:creationId xmlns:p14="http://schemas.microsoft.com/office/powerpoint/2010/main" val="1499005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02810" y="921548"/>
            <a:ext cx="38189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smtClean="0">
                <a:latin typeface="Segoe WPC"/>
              </a:rPr>
              <a:t>4. Загрузка пользователя из БД</a:t>
            </a:r>
            <a:endParaRPr lang="ru-RU" b="1" i="0" dirty="0">
              <a:effectLst/>
              <a:latin typeface="Segoe WPC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768663" y="2517257"/>
            <a:ext cx="51605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MD" sz="1400" dirty="0">
                <a:latin typeface="Segoe WPC"/>
              </a:rPr>
              <a:t>Файл: </a:t>
            </a:r>
            <a:r>
              <a:rPr lang="en-US" sz="1400" dirty="0">
                <a:latin typeface="Consolas" panose="020B0609020204030204" pitchFamily="49" charset="0"/>
              </a:rPr>
              <a:t>CustomUserDetailsService.java</a:t>
            </a:r>
            <a:r>
              <a:rPr lang="en-US" sz="1400" dirty="0">
                <a:latin typeface="Segoe WPC"/>
              </a:rPr>
              <a:t> — </a:t>
            </a:r>
            <a:r>
              <a:rPr lang="ru-MD" sz="1400" dirty="0">
                <a:latin typeface="Segoe WPC"/>
              </a:rPr>
              <a:t>строки 23-34</a:t>
            </a:r>
            <a:endParaRPr lang="en-US" sz="14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5744" y="2965149"/>
            <a:ext cx="6087325" cy="3534268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78676" y="2518489"/>
            <a:ext cx="352096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Segoe WPC"/>
              </a:rPr>
              <a:t>Что делает</a:t>
            </a:r>
            <a:r>
              <a:rPr lang="ru-RU" dirty="0" smtClean="0">
                <a:latin typeface="Segoe WPC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endParaRPr lang="ru-RU" dirty="0" smtClean="0">
              <a:latin typeface="Segoe WPC"/>
            </a:endParaRPr>
          </a:p>
          <a:p>
            <a:r>
              <a:rPr lang="ru-RU" dirty="0" smtClean="0">
                <a:latin typeface="Segoe WPC"/>
              </a:rPr>
              <a:t>При </a:t>
            </a:r>
            <a:r>
              <a:rPr lang="ru-RU" dirty="0">
                <a:latin typeface="Segoe WPC"/>
              </a:rPr>
              <a:t>попытке входа ищет пользователя по логину, создаёт объект </a:t>
            </a:r>
            <a:r>
              <a:rPr lang="ru-RU" dirty="0" err="1">
                <a:latin typeface="Consolas" panose="020B0609020204030204" pitchFamily="49" charset="0"/>
              </a:rPr>
              <a:t>UserDetails</a:t>
            </a:r>
            <a:r>
              <a:rPr lang="ru-RU" dirty="0">
                <a:latin typeface="Segoe WPC"/>
              </a:rPr>
              <a:t> с логином, зашифрованным паролем и ролью.</a:t>
            </a:r>
            <a:endParaRPr lang="ru-RU" b="0" i="0" dirty="0">
              <a:effectLst/>
              <a:latin typeface="Segoe WPC"/>
            </a:endParaRPr>
          </a:p>
        </p:txBody>
      </p:sp>
    </p:spTree>
    <p:extLst>
      <p:ext uri="{BB962C8B-B14F-4D97-AF65-F5344CB8AC3E}">
        <p14:creationId xmlns:p14="http://schemas.microsoft.com/office/powerpoint/2010/main" val="27806718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530468" y="1058182"/>
            <a:ext cx="33323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MD" b="1" dirty="0">
                <a:latin typeface="Segoe WPC"/>
              </a:rPr>
              <a:t>5. Шифровальщик паролей</a:t>
            </a:r>
            <a:endParaRPr lang="ru-MD" b="1" i="0" dirty="0">
              <a:effectLst/>
              <a:latin typeface="Segoe WPC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1071" y="3554568"/>
            <a:ext cx="5649113" cy="905001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530468" y="325924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latin typeface="Segoe WPC"/>
              </a:rPr>
              <a:t>Что делает</a:t>
            </a:r>
            <a:r>
              <a:rPr lang="ru-RU" dirty="0" smtClean="0">
                <a:latin typeface="Segoe WPC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endParaRPr lang="ru-RU" dirty="0">
              <a:latin typeface="Segoe WPC"/>
            </a:endParaRPr>
          </a:p>
          <a:p>
            <a:r>
              <a:rPr lang="ru-RU" dirty="0" smtClean="0">
                <a:latin typeface="Segoe WPC"/>
              </a:rPr>
              <a:t>Предоставляет </a:t>
            </a:r>
            <a:r>
              <a:rPr lang="ru-RU" dirty="0" err="1">
                <a:latin typeface="Segoe WPC"/>
              </a:rPr>
              <a:t>BCrypt</a:t>
            </a:r>
            <a:r>
              <a:rPr lang="ru-RU" dirty="0">
                <a:latin typeface="Segoe WPC"/>
              </a:rPr>
              <a:t> для шифрования и проверки паролей.</a:t>
            </a:r>
            <a:endParaRPr lang="ru-RU" b="0" i="0" dirty="0">
              <a:effectLst/>
              <a:latin typeface="Segoe WPC"/>
            </a:endParaRPr>
          </a:p>
        </p:txBody>
      </p:sp>
    </p:spTree>
    <p:extLst>
      <p:ext uri="{BB962C8B-B14F-4D97-AF65-F5344CB8AC3E}">
        <p14:creationId xmlns:p14="http://schemas.microsoft.com/office/powerpoint/2010/main" val="40779913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Вывод:</a:t>
            </a:r>
            <a:endParaRPr lang="en-US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1766" y="2404296"/>
            <a:ext cx="4432320" cy="3649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7459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5801" y="2142067"/>
            <a:ext cx="3896709" cy="769299"/>
          </a:xfrm>
        </p:spPr>
        <p:txBody>
          <a:bodyPr/>
          <a:lstStyle/>
          <a:p>
            <a:pPr marL="0" indent="0">
              <a:buNone/>
            </a:pPr>
            <a:r>
              <a:rPr lang="ru-MD" b="1" dirty="0"/>
              <a:t>1. Отображение формы регистрации</a:t>
            </a:r>
          </a:p>
          <a:p>
            <a:endParaRPr lang="en-US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MD" b="1" dirty="0"/>
              <a:t>РЕГИСТРАЦИЯ</a:t>
            </a:r>
            <a:br>
              <a:rPr lang="ru-MD" b="1" dirty="0"/>
            </a:b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560" y="3491662"/>
            <a:ext cx="5953956" cy="1009791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231228" y="3168496"/>
            <a:ext cx="378372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Segoe WPC"/>
              </a:rPr>
              <a:t>Что делает</a:t>
            </a:r>
            <a:r>
              <a:rPr lang="ru-RU" dirty="0" smtClean="0">
                <a:latin typeface="Segoe WPC"/>
              </a:rPr>
              <a:t>:</a:t>
            </a:r>
          </a:p>
          <a:p>
            <a:r>
              <a:rPr lang="ru-RU" dirty="0" smtClean="0">
                <a:latin typeface="Segoe WPC"/>
              </a:rPr>
              <a:t>При </a:t>
            </a:r>
            <a:r>
              <a:rPr lang="ru-RU" dirty="0">
                <a:latin typeface="Segoe WPC"/>
              </a:rPr>
              <a:t>переходе на </a:t>
            </a:r>
            <a:r>
              <a:rPr lang="ru-RU" dirty="0">
                <a:latin typeface="Consolas" panose="020B0609020204030204" pitchFamily="49" charset="0"/>
              </a:rPr>
              <a:t>/</a:t>
            </a:r>
            <a:r>
              <a:rPr lang="ru-RU" dirty="0" err="1">
                <a:latin typeface="Consolas" panose="020B0609020204030204" pitchFamily="49" charset="0"/>
              </a:rPr>
              <a:t>register</a:t>
            </a:r>
            <a:r>
              <a:rPr lang="ru-RU" dirty="0">
                <a:latin typeface="Segoe WPC"/>
              </a:rPr>
              <a:t> создаёт пустой объект </a:t>
            </a:r>
            <a:r>
              <a:rPr lang="ru-RU" dirty="0" err="1">
                <a:latin typeface="Consolas" panose="020B0609020204030204" pitchFamily="49" charset="0"/>
              </a:rPr>
              <a:t>User</a:t>
            </a:r>
            <a:r>
              <a:rPr lang="ru-RU" dirty="0">
                <a:latin typeface="Segoe WPC"/>
              </a:rPr>
              <a:t> и передаёт его в форму.</a:t>
            </a:r>
            <a:endParaRPr lang="ru-RU" b="0" i="0" dirty="0">
              <a:effectLst/>
              <a:latin typeface="Segoe WPC"/>
            </a:endParaRPr>
          </a:p>
        </p:txBody>
      </p:sp>
    </p:spTree>
    <p:extLst>
      <p:ext uri="{BB962C8B-B14F-4D97-AF65-F5344CB8AC3E}">
        <p14:creationId xmlns:p14="http://schemas.microsoft.com/office/powerpoint/2010/main" val="28243149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2837" y="1416855"/>
            <a:ext cx="2887716" cy="874402"/>
          </a:xfrm>
        </p:spPr>
        <p:txBody>
          <a:bodyPr/>
          <a:lstStyle/>
          <a:p>
            <a:pPr marL="0" indent="0">
              <a:buNone/>
            </a:pPr>
            <a:r>
              <a:rPr lang="ru-MD" b="1" dirty="0"/>
              <a:t>2. Обработка регистрации</a:t>
            </a:r>
          </a:p>
          <a:p>
            <a:endParaRPr lang="en-US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399" y="564455"/>
            <a:ext cx="4054780" cy="304758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7399" y="3760911"/>
            <a:ext cx="5534797" cy="215295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212837" y="3340114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latin typeface="Segoe WPC"/>
              </a:rPr>
              <a:t>Что делает</a:t>
            </a:r>
            <a:r>
              <a:rPr lang="ru-RU" dirty="0" smtClean="0">
                <a:latin typeface="Segoe WPC"/>
              </a:rPr>
              <a:t>:</a:t>
            </a:r>
          </a:p>
          <a:p>
            <a:endParaRPr lang="ru-RU" dirty="0" smtClean="0">
              <a:latin typeface="Segoe WPC"/>
            </a:endParaRPr>
          </a:p>
          <a:p>
            <a:pPr>
              <a:buFont typeface="+mj-lt"/>
              <a:buAutoNum type="arabicPeriod"/>
            </a:pPr>
            <a:r>
              <a:rPr lang="ru-RU" dirty="0" smtClean="0">
                <a:latin typeface="Segoe WPC"/>
              </a:rPr>
              <a:t>Проверяет</a:t>
            </a:r>
            <a:r>
              <a:rPr lang="ru-RU" dirty="0">
                <a:latin typeface="Segoe WPC"/>
              </a:rPr>
              <a:t>, что логин и пароль не пустые.</a:t>
            </a:r>
          </a:p>
          <a:p>
            <a:pPr>
              <a:buFont typeface="+mj-lt"/>
              <a:buAutoNum type="arabicPeriod" startAt="2"/>
            </a:pPr>
            <a:r>
              <a:rPr lang="ru-RU" dirty="0">
                <a:latin typeface="Segoe WPC"/>
              </a:rPr>
              <a:t>Проверяет уникальность логина.</a:t>
            </a:r>
          </a:p>
          <a:p>
            <a:pPr>
              <a:buFont typeface="+mj-lt"/>
              <a:buAutoNum type="arabicPeriod" startAt="3"/>
            </a:pPr>
            <a:r>
              <a:rPr lang="ru-RU" dirty="0">
                <a:latin typeface="Segoe WPC"/>
              </a:rPr>
              <a:t>Шифрует пароль через </a:t>
            </a:r>
            <a:r>
              <a:rPr lang="ru-RU" dirty="0" err="1">
                <a:latin typeface="Segoe WPC"/>
              </a:rPr>
              <a:t>BCrypt</a:t>
            </a:r>
            <a:r>
              <a:rPr lang="ru-RU" dirty="0">
                <a:latin typeface="Segoe WPC"/>
              </a:rPr>
              <a:t>.</a:t>
            </a:r>
          </a:p>
          <a:p>
            <a:pPr>
              <a:buFont typeface="+mj-lt"/>
              <a:buAutoNum type="arabicPeriod" startAt="4"/>
            </a:pPr>
            <a:r>
              <a:rPr lang="ru-RU" dirty="0">
                <a:latin typeface="Segoe WPC"/>
              </a:rPr>
              <a:t>Устанавливает роль </a:t>
            </a:r>
            <a:r>
              <a:rPr lang="ru-RU" dirty="0">
                <a:latin typeface="Consolas" panose="020B0609020204030204" pitchFamily="49" charset="0"/>
              </a:rPr>
              <a:t>ROLE_USER</a:t>
            </a:r>
            <a:r>
              <a:rPr lang="ru-RU" dirty="0">
                <a:latin typeface="Segoe WPC"/>
              </a:rPr>
              <a:t>.</a:t>
            </a:r>
          </a:p>
          <a:p>
            <a:pPr>
              <a:buFont typeface="+mj-lt"/>
              <a:buAutoNum type="arabicPeriod" startAt="5"/>
            </a:pPr>
            <a:r>
              <a:rPr lang="ru-RU" dirty="0">
                <a:latin typeface="Segoe WPC"/>
              </a:rPr>
              <a:t>Сохраняет пользователя в БД.</a:t>
            </a:r>
          </a:p>
          <a:p>
            <a:pPr>
              <a:buFont typeface="+mj-lt"/>
              <a:buAutoNum type="arabicPeriod" startAt="6"/>
            </a:pPr>
            <a:r>
              <a:rPr lang="ru-RU" dirty="0">
                <a:latin typeface="Segoe WPC"/>
              </a:rPr>
              <a:t>Перенаправляет на страницу входа.</a:t>
            </a:r>
            <a:endParaRPr lang="ru-RU" b="0" i="0" dirty="0">
              <a:effectLst/>
              <a:latin typeface="Segoe WPC"/>
            </a:endParaRPr>
          </a:p>
        </p:txBody>
      </p:sp>
    </p:spTree>
    <p:extLst>
      <p:ext uri="{BB962C8B-B14F-4D97-AF65-F5344CB8AC3E}">
        <p14:creationId xmlns:p14="http://schemas.microsoft.com/office/powerpoint/2010/main" val="15753562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Вывод:</a:t>
            </a:r>
            <a:endParaRPr lang="en-US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2221" y="2225621"/>
            <a:ext cx="4070776" cy="3649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5714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MD" b="1" dirty="0" smtClean="0"/>
              <a:t> СЧЁТЧИК КНИГ</a:t>
            </a:r>
            <a:br>
              <a:rPr lang="ru-MD" b="1" dirty="0" smtClean="0"/>
            </a:br>
            <a:endParaRPr lang="en-US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442841" y="264338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MD" dirty="0"/>
              <a:t>Файл: </a:t>
            </a:r>
            <a:r>
              <a:rPr lang="en-US" dirty="0">
                <a:latin typeface="Consolas" panose="020B0609020204030204" pitchFamily="49" charset="0"/>
              </a:rPr>
              <a:t>BookController.java</a:t>
            </a:r>
            <a:r>
              <a:rPr lang="en-US" dirty="0"/>
              <a:t> — </a:t>
            </a:r>
            <a:r>
              <a:rPr lang="ru-MD" dirty="0"/>
              <a:t>строка 37</a:t>
            </a:r>
            <a:br>
              <a:rPr lang="ru-MD" dirty="0"/>
            </a:b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852" y="3395670"/>
            <a:ext cx="3934374" cy="943107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273269" y="2795505"/>
            <a:ext cx="559150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Segoe WPC"/>
              </a:rPr>
              <a:t>	Что</a:t>
            </a:r>
            <a:r>
              <a:rPr lang="ru-RU" dirty="0">
                <a:latin typeface="Segoe WPC"/>
              </a:rPr>
              <a:t> делает</a:t>
            </a:r>
            <a:r>
              <a:rPr lang="ru-RU" dirty="0" smtClean="0">
                <a:latin typeface="Segoe WPC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smtClean="0">
                <a:latin typeface="Segoe WPC"/>
              </a:rPr>
              <a:t>Вызывает</a:t>
            </a:r>
            <a:r>
              <a:rPr lang="ru-RU" dirty="0">
                <a:latin typeface="Segoe WPC"/>
              </a:rPr>
              <a:t> </a:t>
            </a:r>
            <a:r>
              <a:rPr lang="ru-RU" dirty="0" err="1">
                <a:latin typeface="Consolas" panose="020B0609020204030204" pitchFamily="49" charset="0"/>
              </a:rPr>
              <a:t>repository.count</a:t>
            </a:r>
            <a:r>
              <a:rPr lang="ru-RU" dirty="0">
                <a:latin typeface="Consolas" panose="020B0609020204030204" pitchFamily="49" charset="0"/>
              </a:rPr>
              <a:t>()</a:t>
            </a:r>
            <a:r>
              <a:rPr lang="ru-RU" dirty="0">
                <a:latin typeface="Segoe WPC"/>
              </a:rPr>
              <a:t> для подсчёта всех книг в БД.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Segoe WPC"/>
              </a:rPr>
              <a:t>Выполняет SQL: </a:t>
            </a:r>
            <a:r>
              <a:rPr lang="ru-RU" dirty="0">
                <a:latin typeface="Consolas" panose="020B0609020204030204" pitchFamily="49" charset="0"/>
              </a:rPr>
              <a:t>SELECT COUNT(*) FROM </a:t>
            </a:r>
            <a:r>
              <a:rPr lang="ru-RU" dirty="0" err="1">
                <a:latin typeface="Consolas" panose="020B0609020204030204" pitchFamily="49" charset="0"/>
              </a:rPr>
              <a:t>book</a:t>
            </a:r>
            <a:r>
              <a:rPr lang="ru-RU" dirty="0">
                <a:latin typeface="Segoe WPC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Segoe WPC"/>
              </a:rPr>
              <a:t>Сохраняет результат в </a:t>
            </a:r>
            <a:r>
              <a:rPr lang="ru-RU" dirty="0" err="1">
                <a:latin typeface="Consolas" panose="020B0609020204030204" pitchFamily="49" charset="0"/>
              </a:rPr>
              <a:t>totalBooks</a:t>
            </a:r>
            <a:r>
              <a:rPr lang="ru-RU" dirty="0">
                <a:latin typeface="Segoe WPC"/>
              </a:rPr>
              <a:t> для отображения.</a:t>
            </a:r>
            <a:endParaRPr lang="ru-RU" b="0" i="0" dirty="0">
              <a:effectLst/>
              <a:latin typeface="Segoe WPC"/>
            </a:endParaRPr>
          </a:p>
        </p:txBody>
      </p:sp>
    </p:spTree>
    <p:extLst>
      <p:ext uri="{BB962C8B-B14F-4D97-AF65-F5344CB8AC3E}">
        <p14:creationId xmlns:p14="http://schemas.microsoft.com/office/powerpoint/2010/main" val="34847179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вывод</a:t>
            </a:r>
            <a:endParaRPr lang="en-US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102" y="2567223"/>
            <a:ext cx="9269119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6739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MD" b="1" dirty="0"/>
              <a:t> ФИЛЬТРАЦИЯ</a:t>
            </a:r>
            <a:br>
              <a:rPr lang="ru-MD" b="1" dirty="0"/>
            </a:br>
            <a:endParaRPr lang="en-US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399814" y="2065867"/>
            <a:ext cx="50048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MD" dirty="0">
                <a:latin typeface="Segoe WPC"/>
              </a:rPr>
              <a:t>Файл: </a:t>
            </a:r>
            <a:r>
              <a:rPr lang="en-US" dirty="0">
                <a:solidFill>
                  <a:srgbClr val="81A1C1"/>
                </a:solidFill>
                <a:latin typeface="Consolas" panose="020B0609020204030204" pitchFamily="49" charset="0"/>
              </a:rPr>
              <a:t>BookController.java</a:t>
            </a:r>
            <a:r>
              <a:rPr lang="en-US" dirty="0">
                <a:latin typeface="Segoe WPC"/>
              </a:rPr>
              <a:t> — </a:t>
            </a:r>
            <a:r>
              <a:rPr lang="ru-MD" dirty="0">
                <a:latin typeface="Segoe WPC"/>
              </a:rPr>
              <a:t>строки 30-33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1513" y="3247757"/>
            <a:ext cx="5877745" cy="1476581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15614" y="2877659"/>
            <a:ext cx="549691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Segoe WPC"/>
              </a:rPr>
              <a:t>Что делает</a:t>
            </a:r>
            <a:r>
              <a:rPr lang="ru-RU" dirty="0" smtClean="0">
                <a:latin typeface="Segoe WPC"/>
              </a:rPr>
              <a:t>:</a:t>
            </a:r>
          </a:p>
          <a:p>
            <a:endParaRPr lang="ru-RU" dirty="0" smtClean="0">
              <a:latin typeface="Segoe WPC"/>
            </a:endParaRPr>
          </a:p>
          <a:p>
            <a:r>
              <a:rPr lang="ru-RU" dirty="0" smtClean="0">
                <a:latin typeface="Segoe WPC"/>
              </a:rPr>
              <a:t>Проверяет</a:t>
            </a:r>
            <a:r>
              <a:rPr lang="ru-RU" dirty="0">
                <a:latin typeface="Segoe WPC"/>
              </a:rPr>
              <a:t> наличие параметров </a:t>
            </a:r>
            <a:r>
              <a:rPr lang="ru-RU" dirty="0" err="1">
                <a:latin typeface="Consolas" panose="020B0609020204030204" pitchFamily="49" charset="0"/>
              </a:rPr>
              <a:t>genre</a:t>
            </a:r>
            <a:r>
              <a:rPr lang="ru-RU" dirty="0">
                <a:latin typeface="Segoe WPC"/>
              </a:rPr>
              <a:t> или </a:t>
            </a:r>
            <a:r>
              <a:rPr lang="ru-RU" dirty="0" err="1">
                <a:latin typeface="Consolas" panose="020B0609020204030204" pitchFamily="49" charset="0"/>
              </a:rPr>
              <a:t>year</a:t>
            </a:r>
            <a:r>
              <a:rPr lang="ru-RU" dirty="0">
                <a:latin typeface="Segoe WPC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Segoe WPC"/>
              </a:rPr>
              <a:t>Вызывает </a:t>
            </a:r>
            <a:r>
              <a:rPr lang="ru-RU" dirty="0" err="1">
                <a:latin typeface="Consolas" panose="020B0609020204030204" pitchFamily="49" charset="0"/>
              </a:rPr>
              <a:t>repository.filterBooks</a:t>
            </a:r>
            <a:r>
              <a:rPr lang="ru-RU" dirty="0">
                <a:latin typeface="Consolas" panose="020B0609020204030204" pitchFamily="49" charset="0"/>
              </a:rPr>
              <a:t>(</a:t>
            </a:r>
            <a:r>
              <a:rPr lang="ru-RU" dirty="0" err="1">
                <a:latin typeface="Consolas" panose="020B0609020204030204" pitchFamily="49" charset="0"/>
              </a:rPr>
              <a:t>genre</a:t>
            </a:r>
            <a:r>
              <a:rPr lang="ru-RU" dirty="0">
                <a:latin typeface="Consolas" panose="020B0609020204030204" pitchFamily="49" charset="0"/>
              </a:rPr>
              <a:t>, </a:t>
            </a:r>
            <a:r>
              <a:rPr lang="ru-RU" dirty="0" err="1">
                <a:latin typeface="Consolas" panose="020B0609020204030204" pitchFamily="49" charset="0"/>
              </a:rPr>
              <a:t>year</a:t>
            </a:r>
            <a:r>
              <a:rPr lang="ru-RU" dirty="0">
                <a:latin typeface="Consolas" panose="020B0609020204030204" pitchFamily="49" charset="0"/>
              </a:rPr>
              <a:t>)</a:t>
            </a:r>
            <a:r>
              <a:rPr lang="ru-RU" dirty="0">
                <a:latin typeface="Segoe WPC"/>
              </a:rPr>
              <a:t> для получения отфильтрованных книг.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Segoe WPC"/>
              </a:rPr>
              <a:t>Сохраняет выбранные значения для отображения в форме.</a:t>
            </a:r>
            <a:endParaRPr lang="ru-RU" b="0" i="0" dirty="0">
              <a:effectLst/>
              <a:latin typeface="Segoe WPC"/>
            </a:endParaRPr>
          </a:p>
        </p:txBody>
      </p:sp>
    </p:spTree>
    <p:extLst>
      <p:ext uri="{BB962C8B-B14F-4D97-AF65-F5344CB8AC3E}">
        <p14:creationId xmlns:p14="http://schemas.microsoft.com/office/powerpoint/2010/main" val="21417563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MD" b="1" dirty="0"/>
              <a:t>Метод фильтрации в </a:t>
            </a:r>
            <a:r>
              <a:rPr lang="ru-MD" b="1" dirty="0" err="1"/>
              <a:t>репозитории</a:t>
            </a:r>
            <a:r>
              <a:rPr lang="ru-MD" b="1" dirty="0"/>
              <a:t/>
            </a:r>
            <a:br>
              <a:rPr lang="ru-MD" b="1" dirty="0"/>
            </a:b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8754" y="2475772"/>
            <a:ext cx="5809592" cy="2106740"/>
          </a:xfrm>
        </p:spPr>
        <p:txBody>
          <a:bodyPr/>
          <a:lstStyle/>
          <a:p>
            <a:r>
              <a:rPr lang="ru-RU" dirty="0"/>
              <a:t>Что </a:t>
            </a:r>
            <a:r>
              <a:rPr lang="ru-RU" dirty="0" err="1"/>
              <a:t>делает:Фильтрует</a:t>
            </a:r>
            <a:r>
              <a:rPr lang="ru-RU" dirty="0"/>
              <a:t> книги по жанру (частичное совпадение, без учёта регистра) и/или по году (точное совпадение).</a:t>
            </a:r>
          </a:p>
          <a:p>
            <a:r>
              <a:rPr lang="ru-RU" dirty="0"/>
              <a:t>Если параметр NULL, условие игнорируется.</a:t>
            </a:r>
          </a:p>
          <a:p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879" y="3696479"/>
            <a:ext cx="6354062" cy="60015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6001462" y="2917242"/>
            <a:ext cx="50048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MD" dirty="0">
                <a:latin typeface="Segoe WPC"/>
              </a:rPr>
              <a:t>Файл: </a:t>
            </a:r>
            <a:r>
              <a:rPr lang="en-US" dirty="0">
                <a:latin typeface="Consolas" panose="020B0609020204030204" pitchFamily="49" charset="0"/>
              </a:rPr>
              <a:t>BookRepository.java</a:t>
            </a:r>
            <a:r>
              <a:rPr lang="en-US" dirty="0">
                <a:latin typeface="Segoe WPC"/>
              </a:rPr>
              <a:t> — </a:t>
            </a:r>
            <a:r>
              <a:rPr lang="ru-MD" dirty="0">
                <a:latin typeface="Segoe WPC"/>
              </a:rPr>
              <a:t>строки 14-15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3735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вывод</a:t>
            </a:r>
            <a:endParaRPr lang="en-US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5653" y="2700236"/>
            <a:ext cx="6220693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4724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ебеса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Небесная</Template>
  <TotalTime>40</TotalTime>
  <Words>245</Words>
  <Application>Microsoft Office PowerPoint</Application>
  <PresentationFormat>Широкоэкранный</PresentationFormat>
  <Paragraphs>104</Paragraphs>
  <Slides>26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Consolas</vt:lpstr>
      <vt:lpstr>Roboto</vt:lpstr>
      <vt:lpstr>Segoe WPC</vt:lpstr>
      <vt:lpstr>Небеса</vt:lpstr>
      <vt:lpstr>Онлайн библиотека — Проект</vt:lpstr>
      <vt:lpstr>Функциональность</vt:lpstr>
      <vt:lpstr>CRUD операции</vt:lpstr>
      <vt:lpstr>Создание книг</vt:lpstr>
      <vt:lpstr>Презентация PowerPoint</vt:lpstr>
      <vt:lpstr>Просмотр списка книг</vt:lpstr>
      <vt:lpstr>Презентация PowerPoint</vt:lpstr>
      <vt:lpstr>Редактировние книг</vt:lpstr>
      <vt:lpstr>Презентация PowerPoint</vt:lpstr>
      <vt:lpstr>Презентация PowerPoint</vt:lpstr>
      <vt:lpstr>Удаление книг</vt:lpstr>
      <vt:lpstr>Презентация PowerPoint</vt:lpstr>
      <vt:lpstr>АВТОРИЗАЦИЯ (ВХОД) </vt:lpstr>
      <vt:lpstr>Презентация PowerPoint</vt:lpstr>
      <vt:lpstr>Презентация PowerPoint</vt:lpstr>
      <vt:lpstr>Презентация PowerPoint</vt:lpstr>
      <vt:lpstr>Презентация PowerPoint</vt:lpstr>
      <vt:lpstr>Вывод:</vt:lpstr>
      <vt:lpstr>РЕГИСТРАЦИЯ </vt:lpstr>
      <vt:lpstr>Презентация PowerPoint</vt:lpstr>
      <vt:lpstr>Вывод:</vt:lpstr>
      <vt:lpstr> СЧЁТЧИК КНИГ </vt:lpstr>
      <vt:lpstr>вывод</vt:lpstr>
      <vt:lpstr> ФИЛЬТРАЦИЯ </vt:lpstr>
      <vt:lpstr>Метод фильтрации в репозитории </vt:lpstr>
      <vt:lpstr>вывод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Онлайн библиотека — Проект</dc:title>
  <dc:creator>Grigorovsckiy Denis</dc:creator>
  <cp:lastModifiedBy>Grigorovsckiy Denis</cp:lastModifiedBy>
  <cp:revision>5</cp:revision>
  <dcterms:created xsi:type="dcterms:W3CDTF">2025-12-05T20:26:00Z</dcterms:created>
  <dcterms:modified xsi:type="dcterms:W3CDTF">2025-12-05T21:06:45Z</dcterms:modified>
</cp:coreProperties>
</file>